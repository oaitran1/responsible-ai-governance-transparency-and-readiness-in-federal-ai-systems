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5"/>
    <p:restoredTop sz="94733"/>
  </p:normalViewPr>
  <p:slideViewPr>
    <p:cSldViewPr snapToGrid="0">
      <p:cViewPr varScale="1">
        <p:scale>
          <a:sx n="107" d="100"/>
          <a:sy n="107" d="100"/>
        </p:scale>
        <p:origin x="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C494A9-8921-42DD-87ED-4126BEA1FFF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3847F7F-7911-4073-AAE6-FC82FFFC7BE0}">
      <dgm:prSet/>
      <dgm:spPr/>
      <dgm:t>
        <a:bodyPr/>
        <a:lstStyle/>
        <a:p>
          <a:r>
            <a:rPr lang="en-US"/>
            <a:t>Impact assessment — 3.5%: Agencies can label systems as high-impact without having completed a formal impact assessment.</a:t>
          </a:r>
        </a:p>
      </dgm:t>
    </dgm:pt>
    <dgm:pt modelId="{F3668B81-196E-4E11-8534-F221161C82E8}" type="parTrans" cxnId="{BA0DBADE-C49F-4618-824C-54669D72B182}">
      <dgm:prSet/>
      <dgm:spPr/>
      <dgm:t>
        <a:bodyPr/>
        <a:lstStyle/>
        <a:p>
          <a:endParaRPr lang="en-US"/>
        </a:p>
      </dgm:t>
    </dgm:pt>
    <dgm:pt modelId="{A6A0618E-DA1F-4039-A72D-3356701AAC93}" type="sibTrans" cxnId="{BA0DBADE-C49F-4618-824C-54669D72B182}">
      <dgm:prSet/>
      <dgm:spPr/>
      <dgm:t>
        <a:bodyPr/>
        <a:lstStyle/>
        <a:p>
          <a:endParaRPr lang="en-US"/>
        </a:p>
      </dgm:t>
    </dgm:pt>
    <dgm:pt modelId="{F498E46F-B626-429D-BBD9-197A834745CB}">
      <dgm:prSet/>
      <dgm:spPr/>
      <dgm:t>
        <a:bodyPr/>
        <a:lstStyle/>
        <a:p>
          <a:r>
            <a:rPr lang="en-US"/>
            <a:t>Independent evaluation — 2.5%: Almost all high-impact AI systems are evaluated only by their developers or vendors.</a:t>
          </a:r>
        </a:p>
      </dgm:t>
    </dgm:pt>
    <dgm:pt modelId="{88FFEC20-7AA9-4B35-8494-A54925D7195E}" type="parTrans" cxnId="{D6B4930E-CFCE-454F-BEB5-60D14CFD6BAC}">
      <dgm:prSet/>
      <dgm:spPr/>
      <dgm:t>
        <a:bodyPr/>
        <a:lstStyle/>
        <a:p>
          <a:endParaRPr lang="en-US"/>
        </a:p>
      </dgm:t>
    </dgm:pt>
    <dgm:pt modelId="{56D1233A-64A4-4923-9F6E-23EA1C827937}" type="sibTrans" cxnId="{D6B4930E-CFCE-454F-BEB5-60D14CFD6BAC}">
      <dgm:prSet/>
      <dgm:spPr/>
      <dgm:t>
        <a:bodyPr/>
        <a:lstStyle/>
        <a:p>
          <a:endParaRPr lang="en-US"/>
        </a:p>
      </dgm:t>
    </dgm:pt>
    <dgm:pt modelId="{0FF4942B-C3A3-44AE-9025-651A45848A0C}">
      <dgm:prSet/>
      <dgm:spPr/>
      <dgm:t>
        <a:bodyPr/>
        <a:lstStyle/>
        <a:p>
          <a:r>
            <a:rPr lang="en-US"/>
            <a:t>Monitoring — 6.2%: Most high-impact systems have no established process to detect drift, unintended effects, or emergent harm after deployment.</a:t>
          </a:r>
        </a:p>
      </dgm:t>
    </dgm:pt>
    <dgm:pt modelId="{B395C739-5EFC-447F-A540-732EEB190429}" type="parTrans" cxnId="{8108970C-3EDC-4D0A-9EE4-2C273AD85234}">
      <dgm:prSet/>
      <dgm:spPr/>
      <dgm:t>
        <a:bodyPr/>
        <a:lstStyle/>
        <a:p>
          <a:endParaRPr lang="en-US"/>
        </a:p>
      </dgm:t>
    </dgm:pt>
    <dgm:pt modelId="{322C6AF9-E80A-49FE-9399-BCAB2DD29CF5}" type="sibTrans" cxnId="{8108970C-3EDC-4D0A-9EE4-2C273AD85234}">
      <dgm:prSet/>
      <dgm:spPr/>
      <dgm:t>
        <a:bodyPr/>
        <a:lstStyle/>
        <a:p>
          <a:endParaRPr lang="en-US"/>
        </a:p>
      </dgm:t>
    </dgm:pt>
    <dgm:pt modelId="{CCE8D274-8687-4FD3-9A3D-5CDD12177272}">
      <dgm:prSet/>
      <dgm:spPr/>
      <dgm:t>
        <a:bodyPr/>
        <a:lstStyle/>
        <a:p>
          <a:r>
            <a:rPr lang="en-US"/>
            <a:t>Appeals/contestability — 4.4%: In most cases, individuals affected by AI-mediated decisions have no formal way to challenge outcomes.</a:t>
          </a:r>
        </a:p>
      </dgm:t>
    </dgm:pt>
    <dgm:pt modelId="{D0F22AA9-49D4-412F-8116-68C598CF00E2}" type="parTrans" cxnId="{32397890-7295-419A-91A9-7A00E38B7C78}">
      <dgm:prSet/>
      <dgm:spPr/>
      <dgm:t>
        <a:bodyPr/>
        <a:lstStyle/>
        <a:p>
          <a:endParaRPr lang="en-US"/>
        </a:p>
      </dgm:t>
    </dgm:pt>
    <dgm:pt modelId="{E1A886FB-FDF0-45F2-ACA6-88F676ED0D63}" type="sibTrans" cxnId="{32397890-7295-419A-91A9-7A00E38B7C78}">
      <dgm:prSet/>
      <dgm:spPr/>
      <dgm:t>
        <a:bodyPr/>
        <a:lstStyle/>
        <a:p>
          <a:endParaRPr lang="en-US"/>
        </a:p>
      </dgm:t>
    </dgm:pt>
    <dgm:pt modelId="{06E9F78E-BFF9-40F1-9C8F-E5B65E89A74B}">
      <dgm:prSet/>
      <dgm:spPr/>
      <dgm:t>
        <a:bodyPr/>
        <a:lstStyle/>
        <a:p>
          <a:r>
            <a:rPr lang="en-US"/>
            <a:t>Notice — 6.8%: Transparency is internal mainly and procedural, not public-facing.</a:t>
          </a:r>
        </a:p>
      </dgm:t>
    </dgm:pt>
    <dgm:pt modelId="{33712D78-A6E1-4AEE-AD10-83EDED720062}" type="parTrans" cxnId="{A959E175-7B1F-4330-A1CF-561FBB00F2AA}">
      <dgm:prSet/>
      <dgm:spPr/>
      <dgm:t>
        <a:bodyPr/>
        <a:lstStyle/>
        <a:p>
          <a:endParaRPr lang="en-US"/>
        </a:p>
      </dgm:t>
    </dgm:pt>
    <dgm:pt modelId="{CF58C17E-0EF6-4DC2-B125-915C2F695DA9}" type="sibTrans" cxnId="{A959E175-7B1F-4330-A1CF-561FBB00F2AA}">
      <dgm:prSet/>
      <dgm:spPr/>
      <dgm:t>
        <a:bodyPr/>
        <a:lstStyle/>
        <a:p>
          <a:endParaRPr lang="en-US"/>
        </a:p>
      </dgm:t>
    </dgm:pt>
    <dgm:pt modelId="{6300496A-DED0-4ECA-A463-80196529D98F}">
      <dgm:prSet/>
      <dgm:spPr/>
      <dgm:t>
        <a:bodyPr/>
        <a:lstStyle/>
        <a:p>
          <a:r>
            <a:rPr lang="en-US"/>
            <a:t>Real-world testing — 5.4%: AI systems are being deployed into complex social environments without being evaluated in those environments.</a:t>
          </a:r>
        </a:p>
      </dgm:t>
    </dgm:pt>
    <dgm:pt modelId="{D9528B9F-5A54-4D6D-8EB2-EDF29A5DFD56}" type="parTrans" cxnId="{496B225A-64A8-4346-8C24-718186A5D31C}">
      <dgm:prSet/>
      <dgm:spPr/>
      <dgm:t>
        <a:bodyPr/>
        <a:lstStyle/>
        <a:p>
          <a:endParaRPr lang="en-US"/>
        </a:p>
      </dgm:t>
    </dgm:pt>
    <dgm:pt modelId="{A1573171-18BF-496F-B0C9-38648F59B9A2}" type="sibTrans" cxnId="{496B225A-64A8-4346-8C24-718186A5D31C}">
      <dgm:prSet/>
      <dgm:spPr/>
      <dgm:t>
        <a:bodyPr/>
        <a:lstStyle/>
        <a:p>
          <a:endParaRPr lang="en-US"/>
        </a:p>
      </dgm:t>
    </dgm:pt>
    <dgm:pt modelId="{66C049E3-F83F-5144-9731-67B8C1605B2C}" type="pres">
      <dgm:prSet presAssocID="{ADC494A9-8921-42DD-87ED-4126BEA1FFF8}" presName="linear" presStyleCnt="0">
        <dgm:presLayoutVars>
          <dgm:animLvl val="lvl"/>
          <dgm:resizeHandles val="exact"/>
        </dgm:presLayoutVars>
      </dgm:prSet>
      <dgm:spPr/>
    </dgm:pt>
    <dgm:pt modelId="{162E12B7-D165-9A47-8F1E-8F91C1A0521D}" type="pres">
      <dgm:prSet presAssocID="{23847F7F-7911-4073-AAE6-FC82FFFC7BE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5BD68B0-F23C-D94A-9694-BC9C4E227E1F}" type="pres">
      <dgm:prSet presAssocID="{A6A0618E-DA1F-4039-A72D-3356701AAC93}" presName="spacer" presStyleCnt="0"/>
      <dgm:spPr/>
    </dgm:pt>
    <dgm:pt modelId="{6C1756C0-0030-1C48-B533-F109AE457BE7}" type="pres">
      <dgm:prSet presAssocID="{F498E46F-B626-429D-BBD9-197A834745C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FB7AFCE-7472-5847-A0B4-E73A6502F125}" type="pres">
      <dgm:prSet presAssocID="{56D1233A-64A4-4923-9F6E-23EA1C827937}" presName="spacer" presStyleCnt="0"/>
      <dgm:spPr/>
    </dgm:pt>
    <dgm:pt modelId="{A3CB3987-3269-4D4E-B012-774A76DD6D67}" type="pres">
      <dgm:prSet presAssocID="{0FF4942B-C3A3-44AE-9025-651A45848A0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616600F-1897-534C-8F37-9CA76660ADB0}" type="pres">
      <dgm:prSet presAssocID="{322C6AF9-E80A-49FE-9399-BCAB2DD29CF5}" presName="spacer" presStyleCnt="0"/>
      <dgm:spPr/>
    </dgm:pt>
    <dgm:pt modelId="{6998E831-9831-0D4F-9C3E-30E8A348DDC2}" type="pres">
      <dgm:prSet presAssocID="{CCE8D274-8687-4FD3-9A3D-5CDD1217727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041319E-9019-0542-8F71-3FFFDC8E462B}" type="pres">
      <dgm:prSet presAssocID="{E1A886FB-FDF0-45F2-ACA6-88F676ED0D63}" presName="spacer" presStyleCnt="0"/>
      <dgm:spPr/>
    </dgm:pt>
    <dgm:pt modelId="{A915ABEA-F406-E14A-BB07-89397F8F6B36}" type="pres">
      <dgm:prSet presAssocID="{06E9F78E-BFF9-40F1-9C8F-E5B65E89A74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859E593-4264-E14D-A5CB-3501B81568B6}" type="pres">
      <dgm:prSet presAssocID="{CF58C17E-0EF6-4DC2-B125-915C2F695DA9}" presName="spacer" presStyleCnt="0"/>
      <dgm:spPr/>
    </dgm:pt>
    <dgm:pt modelId="{F23E73A2-CD52-504D-BDC8-2C0D16D67A37}" type="pres">
      <dgm:prSet presAssocID="{6300496A-DED0-4ECA-A463-80196529D98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8D3820A-82BE-D646-AFF7-4D2120E325FD}" type="presOf" srcId="{CCE8D274-8687-4FD3-9A3D-5CDD12177272}" destId="{6998E831-9831-0D4F-9C3E-30E8A348DDC2}" srcOrd="0" destOrd="0" presId="urn:microsoft.com/office/officeart/2005/8/layout/vList2"/>
    <dgm:cxn modelId="{8108970C-3EDC-4D0A-9EE4-2C273AD85234}" srcId="{ADC494A9-8921-42DD-87ED-4126BEA1FFF8}" destId="{0FF4942B-C3A3-44AE-9025-651A45848A0C}" srcOrd="2" destOrd="0" parTransId="{B395C739-5EFC-447F-A540-732EEB190429}" sibTransId="{322C6AF9-E80A-49FE-9399-BCAB2DD29CF5}"/>
    <dgm:cxn modelId="{D6B4930E-CFCE-454F-BEB5-60D14CFD6BAC}" srcId="{ADC494A9-8921-42DD-87ED-4126BEA1FFF8}" destId="{F498E46F-B626-429D-BBD9-197A834745CB}" srcOrd="1" destOrd="0" parTransId="{88FFEC20-7AA9-4B35-8494-A54925D7195E}" sibTransId="{56D1233A-64A4-4923-9F6E-23EA1C827937}"/>
    <dgm:cxn modelId="{B61D7934-8B31-7A40-94FB-E4B33C08ED9B}" type="presOf" srcId="{06E9F78E-BFF9-40F1-9C8F-E5B65E89A74B}" destId="{A915ABEA-F406-E14A-BB07-89397F8F6B36}" srcOrd="0" destOrd="0" presId="urn:microsoft.com/office/officeart/2005/8/layout/vList2"/>
    <dgm:cxn modelId="{496B225A-64A8-4346-8C24-718186A5D31C}" srcId="{ADC494A9-8921-42DD-87ED-4126BEA1FFF8}" destId="{6300496A-DED0-4ECA-A463-80196529D98F}" srcOrd="5" destOrd="0" parTransId="{D9528B9F-5A54-4D6D-8EB2-EDF29A5DFD56}" sibTransId="{A1573171-18BF-496F-B0C9-38648F59B9A2}"/>
    <dgm:cxn modelId="{A959E175-7B1F-4330-A1CF-561FBB00F2AA}" srcId="{ADC494A9-8921-42DD-87ED-4126BEA1FFF8}" destId="{06E9F78E-BFF9-40F1-9C8F-E5B65E89A74B}" srcOrd="4" destOrd="0" parTransId="{33712D78-A6E1-4AEE-AD10-83EDED720062}" sibTransId="{CF58C17E-0EF6-4DC2-B125-915C2F695DA9}"/>
    <dgm:cxn modelId="{599F4877-C99A-E847-8E1F-95769E447579}" type="presOf" srcId="{23847F7F-7911-4073-AAE6-FC82FFFC7BE0}" destId="{162E12B7-D165-9A47-8F1E-8F91C1A0521D}" srcOrd="0" destOrd="0" presId="urn:microsoft.com/office/officeart/2005/8/layout/vList2"/>
    <dgm:cxn modelId="{32397890-7295-419A-91A9-7A00E38B7C78}" srcId="{ADC494A9-8921-42DD-87ED-4126BEA1FFF8}" destId="{CCE8D274-8687-4FD3-9A3D-5CDD12177272}" srcOrd="3" destOrd="0" parTransId="{D0F22AA9-49D4-412F-8116-68C598CF00E2}" sibTransId="{E1A886FB-FDF0-45F2-ACA6-88F676ED0D63}"/>
    <dgm:cxn modelId="{97572C99-C6D8-314A-9ED9-FDEF44BE9BF7}" type="presOf" srcId="{6300496A-DED0-4ECA-A463-80196529D98F}" destId="{F23E73A2-CD52-504D-BDC8-2C0D16D67A37}" srcOrd="0" destOrd="0" presId="urn:microsoft.com/office/officeart/2005/8/layout/vList2"/>
    <dgm:cxn modelId="{796A52B4-687A-6B4D-A791-86F4509D67BF}" type="presOf" srcId="{F498E46F-B626-429D-BBD9-197A834745CB}" destId="{6C1756C0-0030-1C48-B533-F109AE457BE7}" srcOrd="0" destOrd="0" presId="urn:microsoft.com/office/officeart/2005/8/layout/vList2"/>
    <dgm:cxn modelId="{CF387FBC-F189-D84C-BFF8-538D95F10932}" type="presOf" srcId="{0FF4942B-C3A3-44AE-9025-651A45848A0C}" destId="{A3CB3987-3269-4D4E-B012-774A76DD6D67}" srcOrd="0" destOrd="0" presId="urn:microsoft.com/office/officeart/2005/8/layout/vList2"/>
    <dgm:cxn modelId="{9641A3BC-DBA6-114E-96BF-CEF2F7318150}" type="presOf" srcId="{ADC494A9-8921-42DD-87ED-4126BEA1FFF8}" destId="{66C049E3-F83F-5144-9731-67B8C1605B2C}" srcOrd="0" destOrd="0" presId="urn:microsoft.com/office/officeart/2005/8/layout/vList2"/>
    <dgm:cxn modelId="{BA0DBADE-C49F-4618-824C-54669D72B182}" srcId="{ADC494A9-8921-42DD-87ED-4126BEA1FFF8}" destId="{23847F7F-7911-4073-AAE6-FC82FFFC7BE0}" srcOrd="0" destOrd="0" parTransId="{F3668B81-196E-4E11-8534-F221161C82E8}" sibTransId="{A6A0618E-DA1F-4039-A72D-3356701AAC93}"/>
    <dgm:cxn modelId="{5F63BB3B-947A-F741-93C3-BFB4C97D36E7}" type="presParOf" srcId="{66C049E3-F83F-5144-9731-67B8C1605B2C}" destId="{162E12B7-D165-9A47-8F1E-8F91C1A0521D}" srcOrd="0" destOrd="0" presId="urn:microsoft.com/office/officeart/2005/8/layout/vList2"/>
    <dgm:cxn modelId="{2558DA02-A0AF-0D46-B69C-E546DBE24919}" type="presParOf" srcId="{66C049E3-F83F-5144-9731-67B8C1605B2C}" destId="{C5BD68B0-F23C-D94A-9694-BC9C4E227E1F}" srcOrd="1" destOrd="0" presId="urn:microsoft.com/office/officeart/2005/8/layout/vList2"/>
    <dgm:cxn modelId="{A087C80D-F3D4-A04C-80A4-6B2B56DFAF46}" type="presParOf" srcId="{66C049E3-F83F-5144-9731-67B8C1605B2C}" destId="{6C1756C0-0030-1C48-B533-F109AE457BE7}" srcOrd="2" destOrd="0" presId="urn:microsoft.com/office/officeart/2005/8/layout/vList2"/>
    <dgm:cxn modelId="{B90221C6-E938-0045-BA42-ECC38C070675}" type="presParOf" srcId="{66C049E3-F83F-5144-9731-67B8C1605B2C}" destId="{7FB7AFCE-7472-5847-A0B4-E73A6502F125}" srcOrd="3" destOrd="0" presId="urn:microsoft.com/office/officeart/2005/8/layout/vList2"/>
    <dgm:cxn modelId="{B6134696-8C5C-0140-96A2-1135620446F6}" type="presParOf" srcId="{66C049E3-F83F-5144-9731-67B8C1605B2C}" destId="{A3CB3987-3269-4D4E-B012-774A76DD6D67}" srcOrd="4" destOrd="0" presId="urn:microsoft.com/office/officeart/2005/8/layout/vList2"/>
    <dgm:cxn modelId="{68AA501D-A90E-6A4B-8C72-90644DF50826}" type="presParOf" srcId="{66C049E3-F83F-5144-9731-67B8C1605B2C}" destId="{4616600F-1897-534C-8F37-9CA76660ADB0}" srcOrd="5" destOrd="0" presId="urn:microsoft.com/office/officeart/2005/8/layout/vList2"/>
    <dgm:cxn modelId="{9519D4EE-AAFE-C74B-892A-74F84B1D894D}" type="presParOf" srcId="{66C049E3-F83F-5144-9731-67B8C1605B2C}" destId="{6998E831-9831-0D4F-9C3E-30E8A348DDC2}" srcOrd="6" destOrd="0" presId="urn:microsoft.com/office/officeart/2005/8/layout/vList2"/>
    <dgm:cxn modelId="{CA7B4044-6E82-1B40-AB59-1B6E6C977C25}" type="presParOf" srcId="{66C049E3-F83F-5144-9731-67B8C1605B2C}" destId="{F041319E-9019-0542-8F71-3FFFDC8E462B}" srcOrd="7" destOrd="0" presId="urn:microsoft.com/office/officeart/2005/8/layout/vList2"/>
    <dgm:cxn modelId="{D0416F29-57BB-B643-8316-F4D1641F4093}" type="presParOf" srcId="{66C049E3-F83F-5144-9731-67B8C1605B2C}" destId="{A915ABEA-F406-E14A-BB07-89397F8F6B36}" srcOrd="8" destOrd="0" presId="urn:microsoft.com/office/officeart/2005/8/layout/vList2"/>
    <dgm:cxn modelId="{EE673C21-A3F2-024B-A9D5-EAD8CAFC8E83}" type="presParOf" srcId="{66C049E3-F83F-5144-9731-67B8C1605B2C}" destId="{6859E593-4264-E14D-A5CB-3501B81568B6}" srcOrd="9" destOrd="0" presId="urn:microsoft.com/office/officeart/2005/8/layout/vList2"/>
    <dgm:cxn modelId="{AC7BCE37-2310-1B4C-A677-9502B773E3A0}" type="presParOf" srcId="{66C049E3-F83F-5144-9731-67B8C1605B2C}" destId="{F23E73A2-CD52-504D-BDC8-2C0D16D67A3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2E12B7-D165-9A47-8F1E-8F91C1A0521D}">
      <dsp:nvSpPr>
        <dsp:cNvPr id="0" name=""/>
        <dsp:cNvSpPr/>
      </dsp:nvSpPr>
      <dsp:spPr>
        <a:xfrm>
          <a:off x="0" y="340138"/>
          <a:ext cx="591154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Impact assessment — 3.5%: Agencies can label systems as high-impact without having completed a formal impact assessment.</a:t>
          </a:r>
        </a:p>
      </dsp:txBody>
      <dsp:txXfrm>
        <a:off x="25245" y="365383"/>
        <a:ext cx="5861050" cy="466650"/>
      </dsp:txXfrm>
    </dsp:sp>
    <dsp:sp modelId="{6C1756C0-0030-1C48-B533-F109AE457BE7}">
      <dsp:nvSpPr>
        <dsp:cNvPr id="0" name=""/>
        <dsp:cNvSpPr/>
      </dsp:nvSpPr>
      <dsp:spPr>
        <a:xfrm>
          <a:off x="0" y="894718"/>
          <a:ext cx="591154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Independent evaluation — 2.5%: Almost all high-impact AI systems are evaluated only by their developers or vendors.</a:t>
          </a:r>
        </a:p>
      </dsp:txBody>
      <dsp:txXfrm>
        <a:off x="25245" y="919963"/>
        <a:ext cx="5861050" cy="466650"/>
      </dsp:txXfrm>
    </dsp:sp>
    <dsp:sp modelId="{A3CB3987-3269-4D4E-B012-774A76DD6D67}">
      <dsp:nvSpPr>
        <dsp:cNvPr id="0" name=""/>
        <dsp:cNvSpPr/>
      </dsp:nvSpPr>
      <dsp:spPr>
        <a:xfrm>
          <a:off x="0" y="1449298"/>
          <a:ext cx="591154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Monitoring — 6.2%: Most high-impact systems have no established process to detect drift, unintended effects, or emergent harm after deployment.</a:t>
          </a:r>
        </a:p>
      </dsp:txBody>
      <dsp:txXfrm>
        <a:off x="25245" y="1474543"/>
        <a:ext cx="5861050" cy="466650"/>
      </dsp:txXfrm>
    </dsp:sp>
    <dsp:sp modelId="{6998E831-9831-0D4F-9C3E-30E8A348DDC2}">
      <dsp:nvSpPr>
        <dsp:cNvPr id="0" name=""/>
        <dsp:cNvSpPr/>
      </dsp:nvSpPr>
      <dsp:spPr>
        <a:xfrm>
          <a:off x="0" y="2003879"/>
          <a:ext cx="591154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Appeals/contestability — 4.4%: In most cases, individuals affected by AI-mediated decisions have no formal way to challenge outcomes.</a:t>
          </a:r>
        </a:p>
      </dsp:txBody>
      <dsp:txXfrm>
        <a:off x="25245" y="2029124"/>
        <a:ext cx="5861050" cy="466650"/>
      </dsp:txXfrm>
    </dsp:sp>
    <dsp:sp modelId="{A915ABEA-F406-E14A-BB07-89397F8F6B36}">
      <dsp:nvSpPr>
        <dsp:cNvPr id="0" name=""/>
        <dsp:cNvSpPr/>
      </dsp:nvSpPr>
      <dsp:spPr>
        <a:xfrm>
          <a:off x="0" y="2558459"/>
          <a:ext cx="591154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Notice — 6.8%: Transparency is internal mainly and procedural, not public-facing.</a:t>
          </a:r>
        </a:p>
      </dsp:txBody>
      <dsp:txXfrm>
        <a:off x="25245" y="2583704"/>
        <a:ext cx="5861050" cy="466650"/>
      </dsp:txXfrm>
    </dsp:sp>
    <dsp:sp modelId="{F23E73A2-CD52-504D-BDC8-2C0D16D67A37}">
      <dsp:nvSpPr>
        <dsp:cNvPr id="0" name=""/>
        <dsp:cNvSpPr/>
      </dsp:nvSpPr>
      <dsp:spPr>
        <a:xfrm>
          <a:off x="0" y="3113039"/>
          <a:ext cx="591154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Real-world testing — 5.4%: AI systems are being deployed into complex social environments without being evaluated in those environments.</a:t>
          </a:r>
        </a:p>
      </dsp:txBody>
      <dsp:txXfrm>
        <a:off x="25245" y="3138284"/>
        <a:ext cx="5861050" cy="4666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93E56-8508-244B-B2FD-1AA4D59F3309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62B672-CDD3-4A4F-91D7-C5772BB48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722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2B672-CDD3-4A4F-91D7-C5772BB489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25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7DF67-F74E-DDA4-7A94-C550C6573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88496-F3CD-716A-E7CF-6124E6D35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7419B-EB07-FCD1-8E5C-A4055D98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875C1-FFE4-6B45-916F-778122893EE6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49633-361D-0E0D-FF85-BCE212A3F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5C3F2-D34D-EFE7-543D-570533462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61CE4-4EA0-964F-8D66-0B89B3E7A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6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679F-78F5-90E0-8172-E3014394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2318D-04E8-47E9-4308-5BCCC5279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7D328-523C-4FBA-ADC7-92BB32130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875C1-FFE4-6B45-916F-778122893EE6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F51AA-C452-887E-D3AC-DA5917C6A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DF00B-4116-25E2-C204-B573811E3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61CE4-4EA0-964F-8D66-0B89B3E7A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8610D-46CB-BF09-7950-25A23CC41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968E0-AD1F-657B-F2B1-5FF6B2DBD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38DE4-5540-BE13-42A7-3A7174307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875C1-FFE4-6B45-916F-778122893EE6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4FE06-E135-FFEC-5C00-5065E4AFC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90F6D-D360-1766-355B-011920D4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61CE4-4EA0-964F-8D66-0B89B3E7A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04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8614E-7BD4-4824-BCAD-B77C4C87E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5C792-19AA-144B-12DC-7ACBF35F8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2AD9A-0B94-4F7D-6C34-5E4DB5A4B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A2C8A-A0A2-4921-D417-599ECAEB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875C1-FFE4-6B45-916F-778122893EE6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020A8-8CF7-5773-1982-800EAA6D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CE7B8-60F4-4710-84E5-30A3334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61CE4-4EA0-964F-8D66-0B89B3E7A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06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01691-DBBB-C0FA-5B8B-A341E722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9B2BC-BB0E-7F30-2901-5C0B7087B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7A0BB-C358-E7F8-F4C5-FAED7700C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DF9C03-FAB9-783C-8BC3-ECAC2FBC12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D79722-3403-2E19-0269-9C6EE90702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5519B6-1B2A-8997-2CDD-667112A8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875C1-FFE4-6B45-916F-778122893EE6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181B52-F57E-7ECF-C6A3-0FC36667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712457-2162-8B9F-2F14-4A01FB75F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61CE4-4EA0-964F-8D66-0B89B3E7A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7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49295-3386-75CF-3923-918B20524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7B79C-F840-F33E-E8CC-8747AF323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875C1-FFE4-6B45-916F-778122893EE6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BCB7D-23EB-BD9E-E07B-AF5711AFD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14053-DC6D-7F63-E967-1A5427B1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61CE4-4EA0-964F-8D66-0B89B3E7A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7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B16C1F-779D-7A59-EEEE-DC3233E9E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875C1-FFE4-6B45-916F-778122893EE6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F6E779-5322-C60F-C5E0-E986E8876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A1472-8EE1-FD17-599B-56A4AF38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61CE4-4EA0-964F-8D66-0B89B3E7A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29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3D34-C772-0F98-1654-0DC3E1B11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9079B-4FD0-C0E6-04E6-3A373BBC0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C09AF-D71C-D1A8-B79C-0A48BBA3F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AB0DE-7D08-09CA-1781-FA8D9755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875C1-FFE4-6B45-916F-778122893EE6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1CFC9-83C8-3301-E8E8-2B2CD2F9B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EE2B6-55D6-E37D-8DBE-EE44CD0B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61CE4-4EA0-964F-8D66-0B89B3E7A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25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303B2-E8F2-D653-9137-891762A87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A949E5-D4A6-D841-DCE5-0290A7E1F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0A8D72-B379-F9D8-233C-E414B5D73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42DBD-4165-177F-7416-A0A0AEB62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875C1-FFE4-6B45-916F-778122893EE6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DB8DF-4462-8133-8BD4-B44DC5207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C527E-6AAD-0C2C-56F2-D58C0CA0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61CE4-4EA0-964F-8D66-0B89B3E7A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80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B7A2-A041-F2C2-33AC-1B29DE75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2BBF7-55F9-3D9F-0374-0E59808FB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AB611-EE08-F6A8-6A36-65A12941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875C1-FFE4-6B45-916F-778122893EE6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C3029-252D-D412-BF1A-2FAB826E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D3C6A-F8B7-14B9-E5D1-71FEE255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61CE4-4EA0-964F-8D66-0B89B3E7A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960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0534C-DCBD-D686-6707-D0A20B9D0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E22EA-5119-1F29-A161-C6F475EA8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6C497-D1FC-F22D-07E0-2F1B97D4E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875C1-FFE4-6B45-916F-778122893EE6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12EFF-9531-D26D-6618-3F301AA2A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75727-4A2D-ECAC-E49F-99A84A230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61CE4-4EA0-964F-8D66-0B89B3E7A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75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F77761-DA7E-A8D2-7E8E-610749CE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D7A1-F152-767C-AC43-C2A11C250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2B1B0-5859-4537-F495-90C19AAE1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875C1-FFE4-6B45-916F-778122893EE6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C6A66-7DF1-334B-4729-2E539198A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17915-1235-6AAC-1E54-75D69B3EB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C61CE4-4EA0-964F-8D66-0B89B3E7A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DC45B-C735-F979-F047-04B80B109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400">
                <a:solidFill>
                  <a:srgbClr val="FFFFFF"/>
                </a:solidFill>
              </a:rPr>
              <a:t>Track 18: Update 1 CIO Data</a:t>
            </a:r>
            <a:br>
              <a:rPr lang="en-US" sz="4400">
                <a:solidFill>
                  <a:srgbClr val="FFFFFF"/>
                </a:solidFill>
              </a:rPr>
            </a:br>
            <a:r>
              <a:rPr lang="en-US" altLang="en-US" sz="4400">
                <a:solidFill>
                  <a:srgbClr val="FFFFFF"/>
                </a:solidFill>
                <a:latin typeface="-webkit-standard"/>
              </a:rPr>
              <a:t>What Federal AI Disclosures Reveal — and What They Don’t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A923DE-CFE7-8468-3C7E-FE7375DBFE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31874" y="4797188"/>
            <a:ext cx="6051236" cy="12418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FFFFFF"/>
                </a:solidFill>
                <a:latin typeface="-webkit-standard"/>
              </a:rPr>
              <a:t>By: Oai Tran</a:t>
            </a:r>
          </a:p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FFFFFF"/>
                </a:solidFill>
                <a:latin typeface="-webkit-standard"/>
              </a:rPr>
              <a:t>Date: 01/05/2026</a:t>
            </a:r>
          </a:p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FFFFFF"/>
                </a:solidFill>
                <a:latin typeface="-webkit-standard"/>
              </a:rPr>
              <a:t>This is a working Deck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76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D4330B-F9BB-8069-29BC-9A1E4E7D5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RQ: Do current AI inventories actually allow us to evaluate governance readiness?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73523-B09E-43FE-2EBB-B86F99642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A: Look into current AI in government and</a:t>
            </a:r>
          </a:p>
          <a:p>
            <a:pPr marL="0" indent="0">
              <a:buNone/>
            </a:pPr>
            <a:r>
              <a:rPr lang="en-US" sz="2000" dirty="0"/>
              <a:t>B: How Governable AI is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4968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34129-8CB1-83D8-0AE2-669A8634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CIO: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0EDC0-4142-EC90-DC6D-EEE5EFC84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2024 data</a:t>
            </a:r>
          </a:p>
          <a:p>
            <a:pPr lvl="1"/>
            <a:r>
              <a:rPr lang="en-US" sz="2000" dirty="0"/>
              <a:t>1757 observation and 62 features</a:t>
            </a:r>
          </a:p>
          <a:p>
            <a:pPr lvl="1"/>
            <a:r>
              <a:rPr lang="en-US" sz="2000" dirty="0"/>
              <a:t>37 Departments</a:t>
            </a:r>
          </a:p>
          <a:p>
            <a:pPr lvl="1"/>
            <a:r>
              <a:rPr lang="en-US" sz="2000" dirty="0"/>
              <a:t> https://</a:t>
            </a:r>
            <a:r>
              <a:rPr lang="en-US" sz="2000" dirty="0" err="1"/>
              <a:t>www.cio.gov</a:t>
            </a:r>
            <a:r>
              <a:rPr lang="en-US" sz="2000" dirty="0"/>
              <a:t>/policies-and-priorities/Executive-Order-13960-AI-Use-Case-Inventories-Reference/?</a:t>
            </a:r>
            <a:r>
              <a:rPr lang="en-US" sz="2000" dirty="0" err="1"/>
              <a:t>utm_source</a:t>
            </a:r>
            <a:r>
              <a:rPr lang="en-US" sz="2000" dirty="0"/>
              <a:t>=</a:t>
            </a:r>
            <a:r>
              <a:rPr lang="en-US" sz="2000" dirty="0" err="1"/>
              <a:t>chatgpt.com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74351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0575F3-95E6-3E25-FD89-74360132E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CIO 2024: Current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C3229F-8610-94E1-7145-1935B17AEEF0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AI Deployment is highly concentrated across a small number of agencies.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Looking at Herfindahl-Hirschman and Gini coefficient: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    a. AI is spread across agencies, but a small number carry the bulk of AI deployment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This tells us where AI is, but not How Governable it 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19CAA6-B3A4-F614-A5D0-D3513D5C0F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3840" y="897249"/>
            <a:ext cx="4014216" cy="2293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58C5CD-D7DD-0802-F9E0-1B8B99CB1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922578"/>
            <a:ext cx="3995928" cy="48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09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4DB8BE-51D5-DA14-F534-0CFA55EE5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20 Agencies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D2D2E6-4E7F-B9AE-2352-6A2C3A3BC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899989"/>
            <a:ext cx="7225748" cy="505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52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DECE0-D45F-932D-4910-62B2DBCE5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5 Agency by Impact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BC89A-A8DD-57DD-00DA-5EE766154B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863859"/>
            <a:ext cx="7225748" cy="513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51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Complex math formulas on a blackboard">
            <a:extLst>
              <a:ext uri="{FF2B5EF4-FFF2-40B4-BE49-F238E27FC236}">
                <a16:creationId xmlns:a16="http://schemas.microsoft.com/office/drawing/2014/main" id="{F7CD21E6-8762-BDD0-DE5A-02BF67F68A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66" r="-1" b="-1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66717C-1165-CF2C-8A72-0321263D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How Governable AI is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644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F0CCC29-1ADF-400B-B2E2-87AE5F0F3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BD9615F1-E1A8-4B27-A6A8-4F50A77B2B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E138890-F764-4F96-86CE-30B4D8713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31B629F7-DDB6-62B8-5B07-A0B102D04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172" y="598259"/>
            <a:ext cx="1910682" cy="28145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6BC155-5AC8-7383-64DF-0B82844D5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172" y="3611169"/>
            <a:ext cx="4756760" cy="252108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A6637D-F39C-43D1-7B7B-3B4D41895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9"/>
            <a:ext cx="5074368" cy="3018870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CIO 2024: Claim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5672E-E448-2758-8397-E36F358B9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3" y="3952172"/>
            <a:ext cx="5074368" cy="2229172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Federal AI inventories are uneven, inconsistent, and limited for oversight</a:t>
            </a:r>
          </a:p>
          <a:p>
            <a:pPr lvl="1"/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001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83B0D-81A6-8F45-AD01-C8A50E094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CIO: Fill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1F5DD-6FD7-B1A0-CA35-9B3F68C4B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US" sz="1600" dirty="0"/>
              <a:t>Fill rate measures the proportion of AI use cases for which a given governance-relevant disclosure field is populated with meaningful information.</a:t>
            </a:r>
          </a:p>
          <a:p>
            <a:pPr lvl="1"/>
            <a:r>
              <a:rPr lang="en-US" sz="1600" dirty="0"/>
              <a:t>proxy for institutional capacity to document, communicate, and evaluate AI systems</a:t>
            </a:r>
          </a:p>
          <a:p>
            <a:pPr lvl="1"/>
            <a:r>
              <a:rPr lang="en-US" sz="1600" dirty="0"/>
              <a:t>Low Fill rate != BAD</a:t>
            </a:r>
          </a:p>
          <a:p>
            <a:pPr lvl="1"/>
            <a:r>
              <a:rPr lang="en-US" sz="1600" dirty="0"/>
              <a:t>Low Fill rate = limited evaluability</a:t>
            </a:r>
          </a:p>
          <a:p>
            <a:pPr lvl="1"/>
            <a:r>
              <a:rPr lang="en-US" sz="1600" dirty="0"/>
              <a:t>Governance practices are not consistently disclosed cause they  give a high level, and there is almost no independent evaluation</a:t>
            </a:r>
          </a:p>
          <a:p>
            <a:pPr lvl="1"/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785494-791E-5599-9386-3A0AE7AC1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502" y="2747942"/>
            <a:ext cx="3615776" cy="137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61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B8E1D-C1A1-E70E-A3BA-2FA5668F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249" y="281998"/>
            <a:ext cx="10515600" cy="1325563"/>
          </a:xfrm>
        </p:spPr>
        <p:txBody>
          <a:bodyPr/>
          <a:lstStyle/>
          <a:p>
            <a:r>
              <a:rPr lang="en-US" dirty="0"/>
              <a:t>Claim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C43FA-B39F-3EF0-5DEB-700FFA1FC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93" y="1455212"/>
            <a:ext cx="10515600" cy="4351338"/>
          </a:xfrm>
        </p:spPr>
        <p:txBody>
          <a:bodyPr/>
          <a:lstStyle/>
          <a:p>
            <a:r>
              <a:rPr lang="en-US" dirty="0"/>
              <a:t>High-impact system lack corresponding governance capacity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CF54D8-FE4E-6C29-210B-B56827F17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078" y="2604449"/>
            <a:ext cx="3989429" cy="2205212"/>
          </a:xfrm>
          <a:prstGeom prst="rect">
            <a:avLst/>
          </a:prstGeom>
        </p:spPr>
      </p:pic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5CF57ACE-2694-7A5E-A974-DFBB6FC51BD3}"/>
              </a:ext>
            </a:extLst>
          </p:cNvPr>
          <p:cNvGraphicFramePr/>
          <p:nvPr/>
        </p:nvGraphicFramePr>
        <p:xfrm>
          <a:off x="838200" y="2236953"/>
          <a:ext cx="5911540" cy="39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8857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CF497-93A5-6CDE-3CBA-423556082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Claim 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835B2-5A59-B0C1-A8FD-D2934F49A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800600" cy="3711571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Agencies with more capacity/governance maturity disclose more</a:t>
            </a:r>
          </a:p>
          <a:p>
            <a:pPr lvl="1"/>
            <a:r>
              <a:rPr lang="en-US" sz="2000">
                <a:solidFill>
                  <a:schemeClr val="bg1"/>
                </a:solidFill>
              </a:rPr>
              <a:t>High-impact AI systems are frequently deployed under vendor arrangements that constrain transparency and oversight</a:t>
            </a:r>
          </a:p>
          <a:p>
            <a:pPr lvl="1"/>
            <a:r>
              <a:rPr lang="en-US" sz="2000">
                <a:solidFill>
                  <a:schemeClr val="bg1"/>
                </a:solidFill>
              </a:rPr>
              <a:t>About 45% of inventories do not </a:t>
            </a:r>
          </a:p>
          <a:p>
            <a:pPr marL="457200" lvl="1" indent="0">
              <a:buNone/>
            </a:pPr>
            <a:r>
              <a:rPr lang="en-US" sz="2000">
                <a:solidFill>
                  <a:schemeClr val="bg1"/>
                </a:solidFill>
              </a:rPr>
              <a:t>Consistently document public-notice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EF13EF-02FC-F258-62EE-D6DC4DDCF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881" y="4571783"/>
            <a:ext cx="3588640" cy="112035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9BC18E-A2AE-896A-45C6-6DB0BCF6B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413" y="939111"/>
            <a:ext cx="3588640" cy="89716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22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9E497AE-D146-ED67-C133-FF112A0FA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Suggestion</a:t>
            </a:r>
          </a:p>
        </p:txBody>
      </p:sp>
    </p:spTree>
    <p:extLst>
      <p:ext uri="{BB962C8B-B14F-4D97-AF65-F5344CB8AC3E}">
        <p14:creationId xmlns:p14="http://schemas.microsoft.com/office/powerpoint/2010/main" val="2623885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411</Words>
  <Application>Microsoft Macintosh PowerPoint</Application>
  <PresentationFormat>Widescreen</PresentationFormat>
  <Paragraphs>45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-webkit-standard</vt:lpstr>
      <vt:lpstr>Aptos</vt:lpstr>
      <vt:lpstr>Aptos Display</vt:lpstr>
      <vt:lpstr>Arial</vt:lpstr>
      <vt:lpstr>Office Theme</vt:lpstr>
      <vt:lpstr>Track 18: Update 1 CIO Data What Federal AI Disclosures Reveal — and What They Don’t</vt:lpstr>
      <vt:lpstr>RQ: Do current AI inventories actually allow us to evaluate governance readiness?</vt:lpstr>
      <vt:lpstr>CIO: Background</vt:lpstr>
      <vt:lpstr>CIO 2024: Current</vt:lpstr>
      <vt:lpstr>Top 20 Agencies</vt:lpstr>
      <vt:lpstr>Top 5 Agency by Impact</vt:lpstr>
      <vt:lpstr>How Governable AI is </vt:lpstr>
      <vt:lpstr>CIO 2024: Claim 1</vt:lpstr>
      <vt:lpstr>CIO: Fill Rate</vt:lpstr>
      <vt:lpstr>Claim 2</vt:lpstr>
      <vt:lpstr>Claim 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Tran, Oai Quoc (dzn7nf)</dc:creator>
  <cp:lastModifiedBy>Tran, Oai Quoc (dzn7nf)</cp:lastModifiedBy>
  <cp:revision>26</cp:revision>
  <dcterms:created xsi:type="dcterms:W3CDTF">2026-01-05T08:16:08Z</dcterms:created>
  <dcterms:modified xsi:type="dcterms:W3CDTF">2026-01-05T09:35:39Z</dcterms:modified>
</cp:coreProperties>
</file>